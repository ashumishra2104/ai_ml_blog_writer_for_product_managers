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2560320" cy="2560320"/>
          </a:xfrm>
          <a:prstGeom prst="ellipse">
            <a:avLst/>
          </a:prstGeom>
          <a:solidFill>
            <a:srgbClr val="E11D48">
              <a:alpha val="10000"/>
            </a:srgbClr>
          </a:solidFill>
          <a:ln w="12700">
            <a:solidFill>
              <a:srgbClr val="E11D4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188720"/>
            <a:ext cx="1645920" cy="164592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822960"/>
            <a:ext cx="731520" cy="256032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22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822960"/>
            <a:ext cx="73152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822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822960"/>
            <a:ext cx="731520" cy="256032"/>
          </a:xfrm>
          <a:prstGeom prst="rect">
            <a:avLst/>
          </a:prstGeom>
          <a:solidFill>
            <a:srgbClr val="0284C7">
              <a:alpha val="80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822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822960"/>
            <a:ext cx="731520" cy="256032"/>
          </a:xfrm>
          <a:prstGeom prst="rect">
            <a:avLst/>
          </a:prstGeom>
          <a:solidFill>
            <a:srgbClr val="E11D48">
              <a:alpha val="80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822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1234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B949E"/>
                </a:solidFill>
              </a:rPr>
              <a:t>How We Built 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1691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C"/>
                </a:solidFill>
              </a:rPr>
              <a:t>Blog-Writing AI Agent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3152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49E"/>
                </a:solidFill>
              </a:rPr>
              <a:t>From 3 nodes to images, research &amp; a full web UI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76809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V1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Basic Agent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3246120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V2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Better Prompts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45720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V3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Web Research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3246120"/>
            <a:ext cx="457200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V4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Images + UI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754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AI PM Cohort · Ashu Mishra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F6FC"/>
                </a:solidFill>
              </a:rPr>
              <a:t>Why did we build 4 versions?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Each version solved a new problem the previous one couldn't.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011680" cy="4023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🏗️  V1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366F1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192938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C"/>
                </a:solidFill>
              </a:rPr>
              <a:t>The AI wrote a blog but had no structure. You got random paragraphs.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3017520"/>
            <a:ext cx="17373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THE SOLUTION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C"/>
                </a:solidFill>
              </a:rPr>
              <a:t>Parallel workers. Each section written at the same time.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0592" y="1234440"/>
            <a:ext cx="201168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234440"/>
            <a:ext cx="201168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280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🎯  V2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42032" y="192938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C"/>
                </a:solidFill>
              </a:rPr>
              <a:t>The output was generic. Instructions were too vague.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87752" y="3017520"/>
            <a:ext cx="17373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THE SOLUTION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42032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C"/>
                </a:solidFill>
              </a:rPr>
              <a:t>Rich Task briefs. Goal, bullets, word count — per section.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26864" y="1234440"/>
            <a:ext cx="201168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234440"/>
            <a:ext cx="2011680" cy="40233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280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🔍  V3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8304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84C7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18304" y="192938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C"/>
                </a:solidFill>
              </a:rPr>
              <a:t>Couldn't write about recent topics. Training data goes stale.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64024" y="3017520"/>
            <a:ext cx="17373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THE SOLUTION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18304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C"/>
                </a:solidFill>
              </a:rPr>
              <a:t>Tavily web search. Router decides when to research.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03136" y="1234440"/>
            <a:ext cx="201168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1234440"/>
            <a:ext cx="2011680" cy="40233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1280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🖼️  V4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94576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11D48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94576" y="192938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C"/>
                </a:solidFill>
              </a:rPr>
              <a:t>Output was just text. No images, no UI, no way to share.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0296" y="3017520"/>
            <a:ext cx="17373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THE SOLUTION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894576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C"/>
                </a:solidFill>
              </a:rPr>
              <a:t>Gemini generates images. Streamlit gives you a real web app.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822960" cy="292608"/>
          </a:xfrm>
          <a:prstGeom prst="rect">
            <a:avLst>
              <a:gd name="adj" fmla="val 1875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V1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6FC"/>
                </a:solidFill>
              </a:rPr>
              <a:t>The Basic Agent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21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3 nodes. Parallel writing. Output to terminal.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28600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33272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⬇  START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72768"/>
            <a:ext cx="0" cy="20116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2286000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444752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generate_sections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712123"/>
            <a:ext cx="22860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</a:rPr>
              <a:t>LLM → 3 section titles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17320" y="1984248"/>
            <a:ext cx="0" cy="20116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194560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320" y="2322576"/>
            <a:ext cx="15240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5320" y="2322576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" y="2450592"/>
            <a:ext cx="68884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0896" y="2450592"/>
            <a:ext cx="688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writer 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5320" y="2889504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2322576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2896" y="2450592"/>
            <a:ext cx="68884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2896" y="2450592"/>
            <a:ext cx="688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writer 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417320" y="2889504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79320" y="2322576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34896" y="2450592"/>
            <a:ext cx="68884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834896" y="2450592"/>
            <a:ext cx="688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writer 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79320" y="2889504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5320" y="3017520"/>
            <a:ext cx="15240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3017520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145536"/>
            <a:ext cx="228600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" y="3172968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compile_blog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3440339"/>
            <a:ext cx="22860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</a:rPr>
              <a:t>Join + print to terminal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417320" y="3712464"/>
            <a:ext cx="0" cy="16459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877056"/>
            <a:ext cx="2286000" cy="457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3904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⬆  END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08960" y="960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What's happening inside?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108960" y="1417320"/>
            <a:ext cx="56692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0" y="1490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703320" y="1508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generate_sections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03320" y="17647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LLM is asked to return 3 section titles as structured data (not raw text). This ensures the agent gets a clean Python list, not a messy paragraph.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08960" y="2587752"/>
            <a:ext cx="56692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00400" y="26609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703320" y="2679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Parallel execution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03320" y="293522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All 3 writers start at the same time. This is the fan-out pattern — LangGraph's Send() fires all workers simultaneously.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08960" y="3758184"/>
            <a:ext cx="56692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200400" y="38313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703320" y="3849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compile_blog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703320" y="410565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Waits for all writers to finish, joins the text, and prints it to the terminal.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08960" y="3886200"/>
            <a:ext cx="192024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10896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108960" y="4270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108960" y="45628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Nodes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20640" y="3886200"/>
            <a:ext cx="192024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12064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120640" y="4270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Parallel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120640" y="45628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Writers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132320" y="3886200"/>
            <a:ext cx="192024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13232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7132320" y="4270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949E"/>
                </a:solidFill>
              </a:rPr>
              <a:t>Terminal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132320" y="45628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Output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822960" cy="292608"/>
          </a:xfrm>
          <a:prstGeom prst="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6FC"/>
                </a:solidFill>
              </a:rPr>
              <a:t>Better Prompting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21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Same architecture. Dramatically richer instructions.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286000" cy="5669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33272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⬇  START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72768"/>
            <a:ext cx="0" cy="20116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228600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444752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orchestrator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712123"/>
            <a:ext cx="22860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</a:rPr>
              <a:t>Rich plan → Task objects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17320" y="1984248"/>
            <a:ext cx="0" cy="18288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167128"/>
            <a:ext cx="0" cy="13716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04288"/>
            <a:ext cx="21031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304288"/>
            <a:ext cx="0" cy="16459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68880"/>
            <a:ext cx="13716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468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C"/>
                </a:solidFill>
              </a:rPr>
              <a:t>worker 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0120" y="2944368"/>
            <a:ext cx="0" cy="16459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1640" y="2304288"/>
            <a:ext cx="0" cy="16459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2468880"/>
            <a:ext cx="13716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2468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C"/>
                </a:solidFill>
              </a:rPr>
              <a:t>worker 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691640" y="2944368"/>
            <a:ext cx="0" cy="16459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2304288"/>
            <a:ext cx="0" cy="16459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2468880"/>
            <a:ext cx="13716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828800" y="2468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C"/>
                </a:solidFill>
              </a:rPr>
              <a:t>worker 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23160" y="2944368"/>
            <a:ext cx="0" cy="16459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3108960"/>
            <a:ext cx="9144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3108960"/>
            <a:ext cx="0" cy="15544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264408"/>
            <a:ext cx="228600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" y="3291840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reducer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3559211"/>
            <a:ext cx="22860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</a:rPr>
              <a:t>Sort by ID · Save .md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417320" y="3831336"/>
            <a:ext cx="0" cy="18288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014216"/>
            <a:ext cx="2286000" cy="457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4041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⬆  END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08960" y="960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What changed — and why it matters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108960" y="1353312"/>
            <a:ext cx="5669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1353312"/>
            <a:ext cx="1371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Area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1353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V1 (Before)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0840" y="1353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V2 (After)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08960" y="1645920"/>
            <a:ext cx="56692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82112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49E"/>
                </a:solidFill>
              </a:rPr>
              <a:t>Section brief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0" y="1645920"/>
            <a:ext cx="2057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Just a title string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208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Goal + 3–6 bullets + word count + flags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108960" y="2121408"/>
            <a:ext cx="566928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82112" y="2121408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49E"/>
                </a:solidFill>
              </a:rPr>
              <a:t>Plan object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0" y="2121408"/>
            <a:ext cx="2057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No plan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2084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blog_title, audience, tone, tasks[]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108960" y="2596896"/>
            <a:ext cx="56692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82112" y="2596896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49E"/>
                </a:solidFill>
              </a:rPr>
              <a:t>System prompt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0" y="2596896"/>
            <a:ext cx="2057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2 lines — generic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20840" y="2596896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50+ lines — quality constraints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08960" y="3072384"/>
            <a:ext cx="566928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82112" y="3072384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49E"/>
                </a:solidFill>
              </a:rPr>
              <a:t>Worker context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0" y="3072384"/>
            <a:ext cx="2057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Title only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720840" y="3072384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Full editorial brief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108960" y="3547872"/>
            <a:ext cx="56692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82112" y="3547872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49E"/>
                </a:solidFill>
              </a:rPr>
              <a:t>Output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572000" y="3547872"/>
            <a:ext cx="2057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Print to terminal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720840" y="3547872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Saves .md file to disk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108960" y="4023360"/>
            <a:ext cx="566928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82112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49E"/>
                </a:solidFill>
              </a:rPr>
              <a:t>Sections order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572000" y="4023360"/>
            <a:ext cx="2057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Random (parallel)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72084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Sorted by task.id — always correct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108960" y="4590288"/>
            <a:ext cx="5669280" cy="38404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0" y="4590288"/>
            <a:ext cx="5486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0F6FC"/>
                </a:solidFill>
              </a:rPr>
              <a:t>💡  The model isn't the bottleneck. The prompt is. Better instructions → better blog.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822960" cy="292608"/>
          </a:xfrm>
          <a:prstGeom prst="rect">
            <a:avLst>
              <a:gd name="adj" fmla="val 187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V3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6FC"/>
                </a:solidFill>
              </a:rPr>
              <a:t>Web Research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21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The agent can now go to the web before it writes.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868680"/>
            <a:ext cx="2331720" cy="40233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" y="8961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⬇  START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21892" y="1271016"/>
            <a:ext cx="0" cy="14630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417320"/>
            <a:ext cx="2331720" cy="512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4447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router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1683593"/>
            <a:ext cx="2331720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</a:rPr>
              <a:t>Classify topic → mode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21892" y="1929384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980590"/>
            <a:ext cx="21488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80590"/>
            <a:ext cx="0" cy="164592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212848"/>
            <a:ext cx="2331720" cy="5120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" y="2240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research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" y="2479121"/>
            <a:ext cx="2331720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</a:rPr>
              <a:t>Tavily · EvidenceItems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09397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284C7"/>
                </a:solidFill>
              </a:rPr>
              <a:t>needs_research=true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421892" y="2724912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834640"/>
            <a:ext cx="2331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orchestrator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" y="3100913"/>
            <a:ext cx="2331720" cy="21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</a:rPr>
              <a:t>Evidence-aware planning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04872" y="1938528"/>
            <a:ext cx="0" cy="1042416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404872" y="2980944"/>
            <a:ext cx="-1371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60604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B949E"/>
                </a:solidFill>
              </a:rPr>
              <a:t>no research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421892" y="3346704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" y="3429000"/>
            <a:ext cx="19659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3566160"/>
            <a:ext cx="82296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5661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C"/>
                </a:solidFill>
              </a:rPr>
              <a:t>W1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50392" y="3986784"/>
            <a:ext cx="0" cy="14630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24712" y="3566160"/>
            <a:ext cx="82296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4712" y="35661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C"/>
                </a:solidFill>
              </a:rPr>
              <a:t>W2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536192" y="3986784"/>
            <a:ext cx="0" cy="14630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10512" y="3566160"/>
            <a:ext cx="82296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10512" y="35661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C"/>
                </a:solidFill>
              </a:rPr>
              <a:t>WN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21992" y="3986784"/>
            <a:ext cx="0" cy="14630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0392" y="4133088"/>
            <a:ext cx="11430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1892" y="4133088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4261104"/>
            <a:ext cx="23317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56032" y="428853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reducer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" y="4498848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</a:rPr>
              <a:t>Sort · Grounding · .md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063240" y="868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The Router's 3 modes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063240" y="1307592"/>
            <a:ext cx="5760720" cy="1115568"/>
          </a:xfrm>
          <a:prstGeom prst="rect">
            <a:avLst/>
          </a:prstGeom>
          <a:solidFill>
            <a:srgbClr val="161B22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063240" y="1307592"/>
            <a:ext cx="73152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27832" y="13807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📚 closed_book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27832" y="165506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No research needed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27832" y="18928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Topics like 'What is recursion?' or 'How does attention work?' Evergreen knowledge. Training data is enough.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63240" y="2551176"/>
            <a:ext cx="5760720" cy="1115568"/>
          </a:xfrm>
          <a:prstGeom prst="rect">
            <a:avLst/>
          </a:prstGeom>
          <a:solidFill>
            <a:srgbClr val="161B22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063240" y="2551176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27832" y="26243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🔀 hybrid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27832" y="289864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Some research helpful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27832" y="31363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Mostly evergreen but benefits from current examples, tools, or model names. Partial web lookup.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063240" y="3794760"/>
            <a:ext cx="5760720" cy="1115568"/>
          </a:xfrm>
          <a:prstGeom prst="rect">
            <a:avLst/>
          </a:prstGeom>
          <a:solidFill>
            <a:srgbClr val="161B2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063240" y="3794760"/>
            <a:ext cx="73152" cy="111556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27832" y="38679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📰 open_book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227832" y="414223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Must research first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227832" y="43799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'State of AI in 2026', 'This week in LLMs'. Volatile topics — stale training data would be wrong or misleading.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063240" y="4764024"/>
            <a:ext cx="5760720" cy="256032"/>
          </a:xfrm>
          <a:prstGeom prst="rect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54680" y="4764024"/>
            <a:ext cx="55778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🔒  Grounding policy: workers can ONLY cite URLs from the evidence list. No hallucination allowed.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822960" cy="292608"/>
          </a:xfrm>
          <a:prstGeom prst="rect">
            <a:avLst>
              <a:gd name="adj" fmla="val 1875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V4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6FC"/>
                </a:solidFill>
              </a:rPr>
              <a:t>Images + Web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21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The agent now sees, creates images, and runs in a browser.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The Reducer becomes a 3-node subgraph: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27432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27432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98448"/>
            <a:ext cx="2560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Node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merge_content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Sort sections by ID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Join into one doc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17520" y="1915668"/>
            <a:ext cx="41148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8059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1298448"/>
            <a:ext cx="27432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298448"/>
            <a:ext cx="2743200" cy="32918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298448"/>
            <a:ext cx="2560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Node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4612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decide_images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LLM reads full blog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Inserts [[IMAGE_N]] tags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Writes Gemini prompts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97880" y="1915668"/>
            <a:ext cx="41148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8059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298448"/>
            <a:ext cx="27432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298448"/>
            <a:ext cx="27432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298448"/>
            <a:ext cx="2560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Node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generate_and_place_images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Gemini 2.5 Flash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Generates PNG bytes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Saves to images/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651760"/>
            <a:ext cx="8595360" cy="329184"/>
          </a:xfrm>
          <a:prstGeom prst="rect">
            <a:avLst/>
          </a:prstGeom>
          <a:solidFill>
            <a:srgbClr val="450A0A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651760"/>
            <a:ext cx="83210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⚠️  Graceful fallback: if Gemini fails (quota / safety), the blog stays readable — placeholder replaced with an error block.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3090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The Streamlit frontend gives you: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429000"/>
            <a:ext cx="162763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429000"/>
            <a:ext cx="1627632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5295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🧩 Plan tab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" y="378561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Blog structure as a sortable table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011680" y="3429000"/>
            <a:ext cx="162763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11680" y="3429000"/>
            <a:ext cx="1627632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84832" y="35295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🔎 Evidence tab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84832" y="378561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All Tavily sources with dates + URLs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49040" y="3429000"/>
            <a:ext cx="162763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749040" y="3429000"/>
            <a:ext cx="162763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22192" y="35295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📝 Preview tab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22192" y="378561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Renders blog with embedded images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0" y="3429000"/>
            <a:ext cx="162763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0" y="3429000"/>
            <a:ext cx="16276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9552" y="35295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🖼️ Images tab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59552" y="378561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Shows generated PNGs, zip download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23760" y="3429000"/>
            <a:ext cx="162763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23760" y="3429000"/>
            <a:ext cx="162763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35295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🧾 Logs tab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96912" y="378561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Live event stream from LangGraph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462272"/>
            <a:ext cx="8595360" cy="365760"/>
          </a:xfrm>
          <a:prstGeom prst="rect">
            <a:avLst/>
          </a:prstGeom>
          <a:solidFill>
            <a:srgbClr val="0D1B0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bwa_frontend.py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6FC"/>
                </a:solidFill>
              </a:rPr>
              <a:t>How Each Version Evolved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Every row = one capability. Green ✓ = has it. Grey ✗ = not yet.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Capability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94560" y="914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V1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914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V2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914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V3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914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V4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98448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Parallel section writing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1298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298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1298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1298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1613916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13916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Saves output as .md file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16139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16139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16139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16139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1929384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929384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Rich Task model (goal etc)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94560" y="1929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0" y="1929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1929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55280" y="1929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8600" y="2244852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244852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Sections sorted by task 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94560" y="22448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0" y="22448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35040" y="22448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55280" y="22448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28600" y="2560320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560320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Router node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94560" y="2560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0" y="2560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35040" y="2560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55280" y="2560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28600" y="2875788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875788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Tavily web search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94560" y="28757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114800" y="28757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035040" y="28757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955280" y="28757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28600" y="3191256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191256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Evidence grounding policy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194560" y="31912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114800" y="31912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035040" y="31912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955280" y="31912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28600" y="3506724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506724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Date-aware research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94560" y="35067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114800" y="35067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035040" y="35067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955280" y="35067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28600" y="3822192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3822192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AI image generation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194560" y="3822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114800" y="3822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035040" y="3822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955280" y="3822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28600" y="4137660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137660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Reducer subgraph (3 nodes)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194560" y="41376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114800" y="41376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035040" y="41376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955280" y="41376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228600" y="4453128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453128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Streamlit web UI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194560" y="4453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4114800" y="4453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6035040" y="4453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7955280" y="4453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228600" y="4768596"/>
            <a:ext cx="8686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768596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Download .md + image bundle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194560" y="47685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4114800" y="47685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6035040" y="47685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✗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7955280" y="47685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What is LangGraph and why does it matter?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You don't need to know the code — just the idea.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74320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27432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🗺️  Nodes = Workers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Each box in the diagram is a node — a function that does one specific job. The router decides. The researcher searches. The writer writes. The reducer assembles. No node tries to do everything.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24128"/>
            <a:ext cx="274320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24128"/>
            <a:ext cx="274320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24128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⚡  Parallel = Fast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5727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LangGraph's Send() fires multiple workers at the same time. If you have 7 sections to write, all 7 start simultaneously — not one by one. The agent doesn't wait for section 1 to finish before starting section 2.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24128"/>
            <a:ext cx="274320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24128"/>
            <a:ext cx="2743200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24128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🔀  State = Shared Memory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5727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All nodes read from and write to one shared State object — like a whiteboard in a meeting room. The router writes the mode. The researcher writes evidence. The workers write sections. Everyone sees everyone's work.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841248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63240"/>
            <a:ext cx="82296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0F6FC"/>
                </a:solidFill>
              </a:rPr>
              <a:t>🎬  Analogy: LangGraph is the film director. Nodes are the actors. State is the shared script. Each actor reads their scene, performs it, updates the script, and passes it 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In our Blog Agent specifically: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8412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14800"/>
            <a:ext cx="45720" cy="228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router node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03120" y="4114800"/>
            <a:ext cx="6583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reads the topic → decides the mode → writes mode + queries to State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4361688"/>
            <a:ext cx="8412480" cy="228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361688"/>
            <a:ext cx="45720" cy="2286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61688"/>
            <a:ext cx="15544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research node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03120" y="4361688"/>
            <a:ext cx="6583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reads queries from State → searches Tavily → writes evidence to State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608576"/>
            <a:ext cx="8412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608576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08576"/>
            <a:ext cx="15544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worker nodes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03120" y="4608576"/>
            <a:ext cx="6583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read their task + evidence from State → write (id, section) back to State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855464"/>
            <a:ext cx="8412480" cy="228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855464"/>
            <a:ext cx="4572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855464"/>
            <a:ext cx="15544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reducer subgraph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03120" y="4855464"/>
            <a:ext cx="6583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reads all sections from State → merges, plans images, generates PNGs → writes final to State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7 Things You Learned Building This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22960"/>
            <a:ext cx="54864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⚡  Parallel execution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Fan-out with Send() runs all workers simultaneously. Production AI systems never wait in a queue.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65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📋  Structured outputs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When an LLM returns a Pydantic model instead of text, you get clean data you can actually use in code.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26080"/>
            <a:ext cx="54864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17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🗺️  Smart routing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31012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Not every topic needs web search. The router saves API cost by only calling Tavily when the topic demands it.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977640"/>
            <a:ext cx="54864" cy="9144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69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🔒  Grounding policy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3616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Workers can only cite URLs from the evidence list. This is how you prevent hallucination in production.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82296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822960"/>
            <a:ext cx="54864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914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🎨  Image planning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12070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The LLM decides WHERE images help most, then writes the generation prompt. Content-aware, not random.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187452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874520"/>
            <a:ext cx="54864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965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🔀  Subgraphs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25856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 compiled LangGraph can be used as a node inside a bigger graph. Complex systems become composable.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92608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926080"/>
            <a:ext cx="54864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017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🌐  Streamlit UI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31012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Wrapping an AI backend in a web UI is just one import and a few tab calls. Non-technical users can operate it.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E11D48">
              <a:alpha val="8000"/>
            </a:srgbClr>
          </a:solidFill>
          <a:ln w="12700">
            <a:solidFill>
              <a:srgbClr val="E11D4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0058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🎉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You built a complete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</a:rPr>
              <a:t>AI blogging platform.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From 3 nodes to a full pipeline with web search, AI images, and a Streamlit UI.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943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8163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6F1"/>
                </a:solidFill>
              </a:rPr>
              <a:t>Basic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59152" y="281635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66544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Prompts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34256" y="2816352"/>
            <a:ext cx="329184" cy="32918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4256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41648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4C7"/>
                </a:solidFill>
              </a:rPr>
              <a:t>Research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2816352"/>
            <a:ext cx="329184" cy="3291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16752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11D48"/>
                </a:solidFill>
              </a:rPr>
              <a:t>Images+UI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161B22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🚀  Your next challenge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02336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Add a human-in-the-loop step: after decide_images runs, pause and show the user the image plan before Gemini generates anything. The user can approve, edit, or skip each image. What new node would you add — and where in the subgraph?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AI PM Cohort · Ashu Mishra · github.com/ashumishra2104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Blog Agent Evolution</dc:title>
  <dc:subject>PptxGenJS Presentation</dc:subject>
  <dc:creator>PptxGenJS</dc:creator>
  <cp:lastModifiedBy>PptxGenJS</cp:lastModifiedBy>
  <cp:revision>1</cp:revision>
  <dcterms:created xsi:type="dcterms:W3CDTF">2026-03-22T10:58:30Z</dcterms:created>
  <dcterms:modified xsi:type="dcterms:W3CDTF">2026-03-22T10:58:30Z</dcterms:modified>
</cp:coreProperties>
</file>